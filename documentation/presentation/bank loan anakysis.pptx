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64" r:id="rId5"/>
    <p:sldId id="265" r:id="rId6"/>
    <p:sldId id="266" r:id="rId7"/>
    <p:sldId id="259" r:id="rId8"/>
    <p:sldId id="263" r:id="rId9"/>
    <p:sldId id="261" r:id="rId10"/>
    <p:sldId id="267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566" autoAdjust="0"/>
  </p:normalViewPr>
  <p:slideViewPr>
    <p:cSldViewPr snapToGrid="0">
      <p:cViewPr varScale="1">
        <p:scale>
          <a:sx n="89" d="100"/>
          <a:sy n="89" d="100"/>
        </p:scale>
        <p:origin x="41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04A2A-6BF1-4EDE-ACCB-A1B8AD6DA8AE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36D28-4765-476E-849E-019B17B27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9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36D28-4765-476E-849E-019B17B273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469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664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951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710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94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049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174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830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24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80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376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6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20433A4-1C27-4EAA-8FB7-1BF7DDC7418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67171FB-9AC9-412A-8C8B-8D5E8866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69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8FA5-DE5E-F5EA-F92E-38A050773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093" y="1372955"/>
            <a:ext cx="9966960" cy="1751244"/>
          </a:xfrm>
        </p:spPr>
        <p:txBody>
          <a:bodyPr/>
          <a:lstStyle/>
          <a:p>
            <a:r>
              <a:rPr lang="en-IN" sz="7200" dirty="0"/>
              <a:t>Project on Bank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55B39-E0A9-E413-D45A-0DFE39E60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713" y="3931919"/>
            <a:ext cx="8802286" cy="2824482"/>
          </a:xfrm>
        </p:spPr>
        <p:txBody>
          <a:bodyPr>
            <a:noAutofit/>
          </a:bodyPr>
          <a:lstStyle/>
          <a:p>
            <a:r>
              <a:rPr lang="en-IN" sz="2000" b="1" dirty="0"/>
              <a:t>Group -4</a:t>
            </a:r>
          </a:p>
          <a:p>
            <a:r>
              <a:rPr lang="en-IN" sz="1400" dirty="0" err="1"/>
              <a:t>Mounikabenarjee</a:t>
            </a:r>
            <a:r>
              <a:rPr lang="en-IN" sz="1400" dirty="0"/>
              <a:t> </a:t>
            </a:r>
            <a:r>
              <a:rPr lang="en-IN" sz="1400" dirty="0" err="1"/>
              <a:t>kantamaneni</a:t>
            </a:r>
            <a:endParaRPr lang="en-IN" sz="1400" dirty="0"/>
          </a:p>
          <a:p>
            <a:r>
              <a:rPr lang="en-IN" sz="1400" dirty="0"/>
              <a:t>Sakshi Santosh Chavan</a:t>
            </a:r>
          </a:p>
          <a:p>
            <a:r>
              <a:rPr lang="en-IN" sz="1400" dirty="0" err="1"/>
              <a:t>Hrushabh</a:t>
            </a:r>
            <a:r>
              <a:rPr lang="en-IN" sz="1400" dirty="0"/>
              <a:t> Arvind </a:t>
            </a:r>
            <a:r>
              <a:rPr lang="en-IN" sz="1400" dirty="0" err="1"/>
              <a:t>Shinolkar</a:t>
            </a:r>
            <a:endParaRPr lang="en-IN" sz="1400" dirty="0"/>
          </a:p>
          <a:p>
            <a:r>
              <a:rPr lang="en-IN" sz="1400" dirty="0"/>
              <a:t>Shubham Kishor Pethe</a:t>
            </a:r>
          </a:p>
          <a:p>
            <a:r>
              <a:rPr lang="en-IN" sz="1400" dirty="0"/>
              <a:t>Mrunmai Vinayak Devlekar</a:t>
            </a:r>
          </a:p>
          <a:p>
            <a:r>
              <a:rPr lang="en-IN" sz="1400" dirty="0"/>
              <a:t>Vishal Kumar</a:t>
            </a:r>
          </a:p>
          <a:p>
            <a:r>
              <a:rPr lang="en-IN" sz="1400" dirty="0"/>
              <a:t>Rohan Khilari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3543346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227D9-01AA-E567-57EB-E47A88F46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Cleaning the data and merging the data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628CC-12D3-2933-AD54-52A6579F5196}"/>
              </a:ext>
            </a:extLst>
          </p:cNvPr>
          <p:cNvSpPr txBox="1"/>
          <p:nvPr/>
        </p:nvSpPr>
        <p:spPr>
          <a:xfrm>
            <a:off x="1413933" y="2810933"/>
            <a:ext cx="94826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Steps –</a:t>
            </a:r>
          </a:p>
          <a:p>
            <a:endParaRPr lang="en-IN" dirty="0"/>
          </a:p>
          <a:p>
            <a:r>
              <a:rPr lang="en-IN" dirty="0"/>
              <a:t>Analysed the data </a:t>
            </a:r>
          </a:p>
          <a:p>
            <a:endParaRPr lang="en-IN" dirty="0"/>
          </a:p>
          <a:p>
            <a:r>
              <a:rPr lang="en-IN" dirty="0"/>
              <a:t>Transferred the data in power query and made changes and merged the data. </a:t>
            </a:r>
          </a:p>
          <a:p>
            <a:endParaRPr lang="en-IN" dirty="0"/>
          </a:p>
          <a:p>
            <a:r>
              <a:rPr lang="en-IN" dirty="0"/>
              <a:t>Then we started to use Pivot table to make visuals.</a:t>
            </a:r>
          </a:p>
        </p:txBody>
      </p:sp>
    </p:spTree>
    <p:extLst>
      <p:ext uri="{BB962C8B-B14F-4D97-AF65-F5344CB8AC3E}">
        <p14:creationId xmlns:p14="http://schemas.microsoft.com/office/powerpoint/2010/main" val="1034333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FC407-639C-0B20-14FE-5905EDBA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5C4A64-3B3F-7A04-8693-61BF64EAC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02" y="1627346"/>
            <a:ext cx="11216595" cy="474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9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BF8E77-A618-4176-62C4-AF9B1F9CE639}"/>
              </a:ext>
            </a:extLst>
          </p:cNvPr>
          <p:cNvSpPr txBox="1"/>
          <p:nvPr/>
        </p:nvSpPr>
        <p:spPr>
          <a:xfrm>
            <a:off x="1295400" y="1058332"/>
            <a:ext cx="8102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Total Loans: 39,717 | ₹445.6M disbursed</a:t>
            </a:r>
          </a:p>
          <a:p>
            <a:r>
              <a:rPr lang="en-US" sz="1600" dirty="0"/>
              <a:t>Recovered: ₹482.7M → good recovery overall </a:t>
            </a:r>
          </a:p>
          <a:p>
            <a:r>
              <a:rPr lang="en-IN" sz="1600" dirty="0" err="1"/>
              <a:t>Avg</a:t>
            </a:r>
            <a:r>
              <a:rPr lang="en-IN" sz="1600" dirty="0"/>
              <a:t> Interest: 12.02%</a:t>
            </a:r>
          </a:p>
          <a:p>
            <a:r>
              <a:rPr lang="en-US" sz="1600" dirty="0"/>
              <a:t>Loan Status:</a:t>
            </a:r>
          </a:p>
          <a:p>
            <a:r>
              <a:rPr lang="en-US" sz="1600" dirty="0"/>
              <a:t>Fully Paid: 82%</a:t>
            </a:r>
          </a:p>
          <a:p>
            <a:r>
              <a:rPr lang="en-US" sz="1600" dirty="0"/>
              <a:t> Defaulted: 14%</a:t>
            </a:r>
          </a:p>
          <a:p>
            <a:r>
              <a:rPr lang="en-US" sz="1600" dirty="0"/>
              <a:t>Active: 4%</a:t>
            </a:r>
          </a:p>
          <a:p>
            <a:r>
              <a:rPr lang="en-US" sz="1600" dirty="0"/>
              <a:t>Monthly Trend: Loans rise steadily toward year-end → demand peaks late months.</a:t>
            </a:r>
          </a:p>
          <a:p>
            <a:r>
              <a:rPr lang="en-US" sz="1600" dirty="0"/>
              <a:t>Over Years: Loan issuance shoots up from 2009–2011 → fast expansion phase.</a:t>
            </a:r>
          </a:p>
          <a:p>
            <a:r>
              <a:rPr lang="en-US" sz="1600" dirty="0"/>
              <a:t>Verification: Verified payments dominate → safer portfolio.</a:t>
            </a:r>
          </a:p>
          <a:p>
            <a:endParaRPr lang="en-US" sz="1600" dirty="0"/>
          </a:p>
          <a:p>
            <a:r>
              <a:rPr lang="en-US" sz="1600" b="1" dirty="0"/>
              <a:t>Suggestion for the Bank : </a:t>
            </a:r>
          </a:p>
          <a:p>
            <a:endParaRPr lang="en-US" sz="1600" dirty="0"/>
          </a:p>
          <a:p>
            <a:r>
              <a:rPr lang="en-US" sz="1600" dirty="0"/>
              <a:t>Cut defaults: Focus tighter checks on risky profiles &amp; states.</a:t>
            </a:r>
          </a:p>
          <a:p>
            <a:r>
              <a:rPr lang="en-US" sz="1600" dirty="0"/>
              <a:t>Push verification: Mandatory verification = lower losses.</a:t>
            </a:r>
          </a:p>
          <a:p>
            <a:r>
              <a:rPr lang="en-US" sz="1600" dirty="0"/>
              <a:t>Prepare for year-end rush: Add staff + faster processing in peak months.</a:t>
            </a:r>
          </a:p>
          <a:p>
            <a:r>
              <a:rPr lang="en-US" sz="1600" dirty="0"/>
              <a:t>Target good borrowers: Expand lending to high “fully-paid” grade segments.</a:t>
            </a:r>
          </a:p>
          <a:p>
            <a:r>
              <a:rPr lang="en-US" sz="1600" dirty="0"/>
              <a:t>Monitor growth risk: Rapid loan growth → strengthen credit policy.</a:t>
            </a:r>
          </a:p>
          <a:p>
            <a:r>
              <a:rPr lang="en-US" sz="1600" dirty="0"/>
              <a:t>Refine pricing: Use grades to adjust interest rates smartly.</a:t>
            </a: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67673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2808-7DDF-EF73-824F-020BC58E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5" y="137498"/>
            <a:ext cx="10058400" cy="1609344"/>
          </a:xfrm>
        </p:spPr>
        <p:txBody>
          <a:bodyPr/>
          <a:lstStyle/>
          <a:p>
            <a:r>
              <a:rPr lang="en-IN" dirty="0"/>
              <a:t>Power Bi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1DEAD-6944-77A3-7773-FC4B1557B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481" y="364105"/>
            <a:ext cx="5604567" cy="28268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CBBC4A-2B99-40D7-CCF5-65B088AF4C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5" y="3429000"/>
            <a:ext cx="5604566" cy="3064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B2E7E0-09B7-3AD9-4A89-477191692D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441" y="3429000"/>
            <a:ext cx="5604566" cy="306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3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DFED47-C8E5-A204-CEB8-6D996128E47F}"/>
              </a:ext>
            </a:extLst>
          </p:cNvPr>
          <p:cNvSpPr txBox="1"/>
          <p:nvPr/>
        </p:nvSpPr>
        <p:spPr>
          <a:xfrm>
            <a:off x="567267" y="812800"/>
            <a:ext cx="1050713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Risk by Grade</a:t>
            </a:r>
          </a:p>
          <a:p>
            <a:r>
              <a:rPr lang="en-US" sz="1400" dirty="0"/>
              <a:t>Grade G–E = highest risk</a:t>
            </a:r>
          </a:p>
          <a:p>
            <a:r>
              <a:rPr lang="en-US" sz="1400" dirty="0"/>
              <a:t>Grade A–B = safest</a:t>
            </a:r>
          </a:p>
          <a:p>
            <a:endParaRPr lang="en-US" sz="1400" dirty="0"/>
          </a:p>
          <a:p>
            <a:r>
              <a:rPr lang="en-US" sz="1400" dirty="0"/>
              <a:t>Biggest volumes: Debt consolidation &amp; home improvement</a:t>
            </a:r>
          </a:p>
          <a:p>
            <a:r>
              <a:rPr lang="en-US" sz="1400" dirty="0"/>
              <a:t>Highest rates mostly tied to riskier purposes</a:t>
            </a:r>
          </a:p>
          <a:p>
            <a:endParaRPr lang="en-US" sz="1400" dirty="0"/>
          </a:p>
          <a:p>
            <a:r>
              <a:rPr lang="en-US" sz="1400" dirty="0"/>
              <a:t>Region &amp; Ownership</a:t>
            </a:r>
          </a:p>
          <a:p>
            <a:r>
              <a:rPr lang="en-US" sz="1400" dirty="0"/>
              <a:t>Some states dominate loan counts (CA, NY, FL).</a:t>
            </a:r>
          </a:p>
          <a:p>
            <a:r>
              <a:rPr lang="en-US" sz="1400" dirty="0"/>
              <a:t>Home-ownership + payment status strongly linked to defaults.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Suggestions for the Bank </a:t>
            </a:r>
          </a:p>
          <a:p>
            <a:endParaRPr lang="en-US" sz="1400" dirty="0"/>
          </a:p>
          <a:p>
            <a:r>
              <a:rPr lang="en-US" sz="1400" dirty="0"/>
              <a:t>Tighten rules for E–G grades → reduce defaults.</a:t>
            </a:r>
          </a:p>
          <a:p>
            <a:r>
              <a:rPr lang="en-US" sz="1400" dirty="0"/>
              <a:t>Scale A–B grade lending → safer profit growth.</a:t>
            </a:r>
          </a:p>
          <a:p>
            <a:r>
              <a:rPr lang="en-US" sz="1400" dirty="0"/>
              <a:t>Make verification mandatory for risky segments.</a:t>
            </a:r>
          </a:p>
          <a:p>
            <a:r>
              <a:rPr lang="en-US" sz="1400" dirty="0"/>
              <a:t>State-wise risk pricing (higher-risk regions → higher rates / stricter checks).</a:t>
            </a:r>
          </a:p>
          <a:p>
            <a:r>
              <a:rPr lang="en-US" sz="1400" dirty="0"/>
              <a:t>Factor home-ownership into scoring models.</a:t>
            </a:r>
          </a:p>
          <a:p>
            <a:r>
              <a:rPr lang="en-US" sz="1400" dirty="0"/>
              <a:t>Control rapid growth with better stress testing.</a:t>
            </a:r>
          </a:p>
          <a:p>
            <a:r>
              <a:rPr lang="en-US" sz="1400" dirty="0"/>
              <a:t>Reprice by purpose (debt consolidation &amp; risky uses).</a:t>
            </a:r>
          </a:p>
          <a:p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85378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8D3A-458F-1C2A-0C0C-AE140CE49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257248"/>
            <a:ext cx="10058400" cy="870035"/>
          </a:xfrm>
        </p:spPr>
        <p:txBody>
          <a:bodyPr/>
          <a:lstStyle/>
          <a:p>
            <a:r>
              <a:rPr lang="en-IN" dirty="0"/>
              <a:t>Tableau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F3FD26-9B6A-DADC-6FDE-6CB0DA843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707" y="71120"/>
            <a:ext cx="7768204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388DA6-8FED-08D1-06FC-6E06BE66F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39" y="3615128"/>
            <a:ext cx="7950275" cy="317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85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719892A-BBDD-4759-7B95-EF139BC7EC59}"/>
              </a:ext>
            </a:extLst>
          </p:cNvPr>
          <p:cNvSpPr txBox="1"/>
          <p:nvPr/>
        </p:nvSpPr>
        <p:spPr>
          <a:xfrm>
            <a:off x="152399" y="194734"/>
            <a:ext cx="11303001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400" dirty="0"/>
          </a:p>
          <a:p>
            <a:r>
              <a:rPr lang="en-IN" sz="1400" dirty="0"/>
              <a:t>Rapid Growth - </a:t>
            </a:r>
            <a:r>
              <a:rPr lang="en-US" sz="1400" dirty="0"/>
              <a:t>Portfolio scaled from </a:t>
            </a:r>
            <a:r>
              <a:rPr lang="en-US" sz="1400" b="1" dirty="0"/>
              <a:t>$2.2M (2007)</a:t>
            </a:r>
            <a:r>
              <a:rPr lang="en-US" sz="1400" dirty="0"/>
              <a:t> to </a:t>
            </a:r>
            <a:r>
              <a:rPr lang="en-US" sz="1400" b="1" dirty="0"/>
              <a:t>$260M (2011)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b="1" dirty="0"/>
              <a:t>Revenue Drivers:</a:t>
            </a:r>
            <a:r>
              <a:rPr lang="en-US" sz="1400" dirty="0"/>
              <a:t> </a:t>
            </a:r>
            <a:r>
              <a:rPr lang="en-US" sz="1400" b="1" dirty="0"/>
              <a:t>Debt Consolidation</a:t>
            </a:r>
            <a:r>
              <a:rPr lang="en-US" sz="1400" dirty="0"/>
              <a:t> is your anchor product ($236M), and </a:t>
            </a:r>
            <a:r>
              <a:rPr lang="en-US" sz="1400" b="1" dirty="0"/>
              <a:t>California</a:t>
            </a:r>
            <a:r>
              <a:rPr lang="en-US" sz="1400" dirty="0"/>
              <a:t> is your primary market (7,099 loans).</a:t>
            </a:r>
          </a:p>
          <a:p>
            <a:r>
              <a:rPr lang="en-US" sz="1400" b="1" dirty="0"/>
              <a:t>Risk Profile:</a:t>
            </a:r>
            <a:r>
              <a:rPr lang="en-US" sz="1400" dirty="0"/>
              <a:t> Strong recovery rate with </a:t>
            </a:r>
            <a:r>
              <a:rPr lang="en-US" sz="1400" b="1" dirty="0"/>
              <a:t>83% Fully Paid</a:t>
            </a:r>
            <a:r>
              <a:rPr lang="en-US" sz="1400" dirty="0"/>
              <a:t>, but the </a:t>
            </a:r>
            <a:r>
              <a:rPr lang="en-US" sz="1400" b="1" dirty="0"/>
              <a:t>14.2% Default Rate</a:t>
            </a:r>
            <a:r>
              <a:rPr lang="en-US" sz="1400" dirty="0"/>
              <a:t> is a high-cost leak that needs plugging.</a:t>
            </a:r>
          </a:p>
          <a:p>
            <a:r>
              <a:rPr lang="en-US" sz="1400" b="1" dirty="0"/>
              <a:t>Profitability:</a:t>
            </a:r>
            <a:r>
              <a:rPr lang="en-US" sz="1400" dirty="0"/>
              <a:t> Average interest rate sits at </a:t>
            </a:r>
            <a:r>
              <a:rPr lang="en-US" sz="1400" b="1" dirty="0"/>
              <a:t>12.02%</a:t>
            </a:r>
            <a:r>
              <a:rPr lang="en-US" sz="1400" dirty="0"/>
              <a:t>, with Grade G loans yielding over 20% to offset risk.</a:t>
            </a:r>
          </a:p>
          <a:p>
            <a:endParaRPr lang="en-US" sz="1400" dirty="0"/>
          </a:p>
          <a:p>
            <a:r>
              <a:rPr lang="en-US" sz="1400" b="1" dirty="0"/>
              <a:t>Strategic Recommendations</a:t>
            </a:r>
          </a:p>
          <a:p>
            <a:endParaRPr lang="en-US" b="1" dirty="0"/>
          </a:p>
          <a:p>
            <a:r>
              <a:rPr lang="en-US" sz="1400" b="1" dirty="0"/>
              <a:t>1. Mitigate Risk</a:t>
            </a:r>
          </a:p>
          <a:p>
            <a:r>
              <a:rPr lang="en-US" sz="1400" b="1" dirty="0"/>
              <a:t>Verification Gap:</a:t>
            </a:r>
            <a:r>
              <a:rPr lang="en-US" sz="1400" dirty="0"/>
              <a:t> 32% of payments come from "Not Verified" sources. </a:t>
            </a:r>
            <a:r>
              <a:rPr lang="en-US" sz="1400" b="1" dirty="0"/>
              <a:t>Mandate verification</a:t>
            </a:r>
            <a:r>
              <a:rPr lang="en-US" sz="1400" dirty="0"/>
              <a:t> for high-risk grades (E, F, G) to lower the 14% default rate.</a:t>
            </a:r>
          </a:p>
          <a:p>
            <a:r>
              <a:rPr lang="en-US" sz="1400" b="1" dirty="0"/>
              <a:t>Exposure Cap:</a:t>
            </a:r>
            <a:r>
              <a:rPr lang="en-US" sz="1400" dirty="0"/>
              <a:t> Reduce geographic concentration in </a:t>
            </a:r>
            <a:r>
              <a:rPr lang="en-US" sz="1400" b="1" dirty="0"/>
              <a:t>California</a:t>
            </a:r>
            <a:r>
              <a:rPr lang="en-US" sz="1400" dirty="0"/>
              <a:t> to insulate the bank from state-specific economic shocks.</a:t>
            </a:r>
          </a:p>
          <a:p>
            <a:endParaRPr lang="en-US" sz="1400" dirty="0"/>
          </a:p>
          <a:p>
            <a:r>
              <a:rPr lang="en-US" sz="1400" b="1" dirty="0"/>
              <a:t>2. Optimize Product Mix</a:t>
            </a:r>
          </a:p>
          <a:p>
            <a:r>
              <a:rPr lang="en-US" sz="1400" b="1" dirty="0"/>
              <a:t>Diversify Purpose:</a:t>
            </a:r>
            <a:r>
              <a:rPr lang="en-US" sz="1400" dirty="0"/>
              <a:t> Move beyond Debt Consolidation. The </a:t>
            </a:r>
            <a:r>
              <a:rPr lang="en-US" sz="1400" b="1" dirty="0"/>
              <a:t>Home Improvement</a:t>
            </a:r>
            <a:r>
              <a:rPr lang="en-US" sz="1400" dirty="0"/>
              <a:t> and </a:t>
            </a:r>
            <a:r>
              <a:rPr lang="en-US" sz="1400" b="1" dirty="0"/>
              <a:t>Car</a:t>
            </a:r>
            <a:r>
              <a:rPr lang="en-US" sz="1400" dirty="0"/>
              <a:t> segments show lower interest rates (10–11%), suggesting lower-risk borrowers that could stabilize the portfolio.</a:t>
            </a:r>
          </a:p>
          <a:p>
            <a:endParaRPr lang="en-US" dirty="0"/>
          </a:p>
          <a:p>
            <a:r>
              <a:rPr lang="en-US" sz="1400" b="1" dirty="0"/>
              <a:t>3. Operational Timing</a:t>
            </a:r>
          </a:p>
          <a:p>
            <a:r>
              <a:rPr lang="en-US" sz="1400" b="1" dirty="0"/>
              <a:t>Q4 Surge:</a:t>
            </a:r>
            <a:r>
              <a:rPr lang="en-US" sz="1400" dirty="0"/>
              <a:t> Data shows a consistent volume spike in the final quarter. Increase liquidity and marketing spend in </a:t>
            </a:r>
            <a:r>
              <a:rPr lang="en-US" sz="1400" b="1" dirty="0"/>
              <a:t>September/October</a:t>
            </a:r>
            <a:r>
              <a:rPr lang="en-US" sz="1400" dirty="0"/>
              <a:t> to capture high-intent year-end borrowers.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5552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8C0A-036A-1EA0-1A1A-A81ED4A94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1609344"/>
          </a:xfrm>
        </p:spPr>
        <p:txBody>
          <a:bodyPr/>
          <a:lstStyle/>
          <a:p>
            <a:r>
              <a:rPr lang="en-IN" dirty="0"/>
              <a:t>SQL Queries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B8B1F7-8A04-4070-06C0-A1ADE7492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18" y="1490177"/>
            <a:ext cx="5714215" cy="46863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3C239D-F9ED-31E9-701E-59554C51C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251" y="1127369"/>
            <a:ext cx="5213881" cy="483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42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C8CC32-268B-69DE-5B17-45CA68698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79" y="376322"/>
            <a:ext cx="5088402" cy="5239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D793C3-3083-A73A-CCF8-DEE96E1B5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996" y="376321"/>
            <a:ext cx="5977125" cy="259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16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94A8-8B27-D441-77F9-7C46A4D11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learnt.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AC0AA2-D6CC-2E3C-35DD-22003B7C60CB}"/>
              </a:ext>
            </a:extLst>
          </p:cNvPr>
          <p:cNvSpPr txBox="1"/>
          <p:nvPr/>
        </p:nvSpPr>
        <p:spPr>
          <a:xfrm>
            <a:off x="728859" y="1817776"/>
            <a:ext cx="1073428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b="1" dirty="0"/>
              <a:t>Strong Growth Phase:</a:t>
            </a:r>
            <a:r>
              <a:rPr lang="en-US" sz="1400" dirty="0"/>
              <a:t> Loans and amounts surged from 2009–2011 → rapid expansion needed tighter risk controls.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Healthy Portfolio (with caution):</a:t>
            </a:r>
            <a:r>
              <a:rPr lang="en-US" sz="1400" dirty="0"/>
              <a:t> ~83% fully paid, ~14% default → generally strong but room to reduce losses.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Risk by Grade:</a:t>
            </a:r>
            <a:r>
              <a:rPr lang="en-US" sz="1400" dirty="0"/>
              <a:t> A–B grades are safest; E–G carry highest default risk → supports risk-based pricing.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Purpose Matters:</a:t>
            </a:r>
            <a:r>
              <a:rPr lang="en-US" sz="1400" dirty="0"/>
              <a:t> Debt consolidation &amp; home improvement dominate volumes and show higher risk-linked rates.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Geography &amp; Ownership Impact Risk:</a:t>
            </a:r>
            <a:r>
              <a:rPr lang="en-US" sz="1400" dirty="0"/>
              <a:t> Certain states and home-ownership types influence repayment behavior.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Verification Reduces Loss:</a:t>
            </a:r>
            <a:r>
              <a:rPr lang="en-US" sz="1400" dirty="0"/>
              <a:t> Verified borrowers perform better → key lever for portfolio quality.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Data → Decisions:</a:t>
            </a:r>
            <a:r>
              <a:rPr lang="en-US" sz="1400" dirty="0"/>
              <a:t> SQL + Power BI transformed raw data into actionable insights for growth, pricing, and risk strategy.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4459535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</TotalTime>
  <Words>697</Words>
  <Application>Microsoft Office PowerPoint</Application>
  <PresentationFormat>Widescreen</PresentationFormat>
  <Paragraphs>88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Rockwell</vt:lpstr>
      <vt:lpstr>Rockwell Condensed</vt:lpstr>
      <vt:lpstr>Wingdings</vt:lpstr>
      <vt:lpstr>Wood Type</vt:lpstr>
      <vt:lpstr>Project on Bank Analytics</vt:lpstr>
      <vt:lpstr>Cleaning the data and merging the data </vt:lpstr>
      <vt:lpstr>Excel </vt:lpstr>
      <vt:lpstr>PowerPoint Presentation</vt:lpstr>
      <vt:lpstr>Power Bi</vt:lpstr>
      <vt:lpstr>PowerPoint Presentation</vt:lpstr>
      <vt:lpstr>Tableau</vt:lpstr>
      <vt:lpstr>PowerPoint Presentation</vt:lpstr>
      <vt:lpstr>SQL Queries</vt:lpstr>
      <vt:lpstr>PowerPoint Presentation</vt:lpstr>
      <vt:lpstr>What we learnt.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mounika k</dc:creator>
  <cp:lastModifiedBy>mounika k</cp:lastModifiedBy>
  <cp:revision>10</cp:revision>
  <dcterms:created xsi:type="dcterms:W3CDTF">2026-02-05T15:38:01Z</dcterms:created>
  <dcterms:modified xsi:type="dcterms:W3CDTF">2026-02-09T12:19:00Z</dcterms:modified>
</cp:coreProperties>
</file>